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padington/polar-codec" TargetMode="External"/><Relationship Id="rId3" Type="http://schemas.openxmlformats.org/officeDocument/2006/relationships/hyperlink" Target="https://github.com/padington/polar-codec/blob/main/results/batch2/report.md" TargetMode="External"/><Relationship Id="rId4" Type="http://schemas.openxmlformats.org/officeDocument/2006/relationships/hyperlink" Target="https://github.com/padington/polar-codec/blob/main/results/batch2_svtav1/av1_gap.md" TargetMode="External"/><Relationship Id="rId5" Type="http://schemas.openxmlformats.org/officeDocument/2006/relationships/hyperlink" Target="https://github.com/padington/polar-codec/blob/main/results/batch2/gallery_polar_eq/gallery.md" TargetMode="External"/><Relationship Id="rId6" Type="http://schemas.openxmlformats.org/officeDocument/2006/relationships/hyperlink" Target="https://github.com/padington/polar-codec/blob/main/results/batch2/synth/synth_report.md" TargetMode="External"/><Relationship Id="rId7" Type="http://schemas.openxmlformats.org/officeDocument/2006/relationships/hyperlink" Target="https://github.com/padington/polar-codec/blob/main/docs/research/polar-coding-literature.md" TargetMode="External"/><Relationship Id="rId8" Type="http://schemas.openxmlformats.org/officeDocument/2006/relationships/hyperlink" Target="https://github.com/padington/polar-codec/blob/main/docs/explainer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28655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E6EDF3"/>
                </a:solidFill>
                <a:latin typeface="Helvetica"/>
              </a:rPr>
              <a:t>Can polar coordinates make round videos smaller?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2865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6EDF3"/>
                </a:solidFill>
                <a:latin typeface="Helvetica"/>
              </a:rPr>
              <a:t>What we measured on real Telegram circles, and what the literature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72865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9AA7B4"/>
                </a:solidFill>
                <a:latin typeface="Helvetica"/>
              </a:rPr>
              <a:t>7 September 2026  ·  https://github.com/padington/polar-codec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What a Telegram circle really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2062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A circle message is an ordinary square video file (300 to 400 px a side).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The corners are simply white. The app draws a round mask on top.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So the codec (the program that shrinks video; H.264 here) already compresses a square with a circle inside.</a:t>
            </a:r>
          </a:p>
        </p:txBody>
      </p:sp>
      <p:pic>
        <p:nvPicPr>
          <p:cNvPr id="4" name="Picture 3" descr="frame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329184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52120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9AA7B4"/>
                </a:solidFill>
                <a:latin typeface="Helvetica"/>
              </a:rPr>
              <a:t>the file on disk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3108960"/>
            <a:ext cx="640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0">
                <a:solidFill>
                  <a:srgbClr val="9AA7B4"/>
                </a:solidFill>
                <a:latin typeface="Helvetica"/>
              </a:rPr>
              <a:t>→</a:t>
            </a:r>
          </a:p>
        </p:txBody>
      </p:sp>
      <p:pic>
        <p:nvPicPr>
          <p:cNvPr id="7" name="Picture 6" descr="frame_square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828800"/>
            <a:ext cx="32918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52120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9AA7B4"/>
                </a:solidFill>
                <a:latin typeface="Helvetica"/>
              </a:rPr>
              <a:t>what you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Where everything is square,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Sources: research bibliography, lens 3 (Bayer filter; H.264/HEVC/AV1 block sizes; Wear OS frame buffer; Apple display patent).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Sensors, encoders, decoders, GPUs and screens are all wired in rows and columns.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The circle exists only as a mask. Any polar file would be unpacked back to a square on every phone.</a:t>
            </a:r>
          </a:p>
        </p:txBody>
      </p:sp>
      <p:pic>
        <p:nvPicPr>
          <p:cNvPr id="5" name="Picture 4" descr="fig_squar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35" y="2468880"/>
            <a:ext cx="10091625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The polar idea: unroll the disc into a strip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2918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Cut the circle at the chin and unroll it: every row is one angle, every column one distance from the centre.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Hope: a tilt of the head (the picture spinning about the centre) becomes a plain vertical shift, and codecs love shifts.</a:t>
            </a:r>
          </a:p>
        </p:txBody>
      </p:sp>
      <p:pic>
        <p:nvPicPr>
          <p:cNvPr id="4" name="Picture 3" descr="fig_un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07235"/>
            <a:ext cx="5486400" cy="3283610"/>
          </a:xfrm>
          <a:prstGeom prst="rect">
            <a:avLst/>
          </a:prstGeom>
        </p:spPr>
      </p:pic>
      <p:pic>
        <p:nvPicPr>
          <p:cNvPr id="5" name="Picture 4" descr="frame_square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7160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0" y="33832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9AA7B4"/>
                </a:solidFill>
                <a:latin typeface="Helvetica"/>
              </a:rPr>
              <a:t>a real circle</a:t>
            </a:r>
          </a:p>
        </p:txBody>
      </p:sp>
      <p:pic>
        <p:nvPicPr>
          <p:cNvPr id="7" name="Picture 6" descr="frame_canv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840480"/>
            <a:ext cx="59436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9760" y="62179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9AA7B4"/>
                </a:solidFill>
                <a:latin typeface="Helvetica"/>
              </a:rPr>
              <a:t>its real strip (202 x 808)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Unroll, hand the strip to an unchanged standard codec, roll it back.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Nothing inside the codec was touched, so any gain or loss comes from the geometry alone.</a:t>
            </a:r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98803"/>
            <a:ext cx="11094415" cy="34891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How we judged: same picture quality, count the bytes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023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PSNR = a closeness-to-the-original score in dB; about 1 dB is a visible step.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Bytes at equal quality = file size read off at the same PSNR inside the circle.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A 30-s circle at our middle quality setting (about 0.5 Mbit/s): square 1.8 MB, elliptical 2.5 MB, polar 3.3 MB.</a:t>
            </a:r>
          </a:p>
        </p:txBody>
      </p:sp>
      <p:pic>
        <p:nvPicPr>
          <p:cNvPr id="4" name="Picture 3" descr="fig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858" y="1371600"/>
            <a:ext cx="720436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Result: the square is the smallest, every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Polar strip needs 1.82x the bytes, the gentlest disc-to-square map 1.37x. Square smallest on 30 of 30 clips.</a:t>
            </a:r>
          </a:p>
        </p:txBody>
      </p:sp>
      <p:pic>
        <p:nvPicPr>
          <p:cNvPr id="4" name="Picture 3" descr="fi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249" y="2468880"/>
            <a:ext cx="8331197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See it: original, square, polar, and the strip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Original, square re-encode, polar round trip. The strip is the internal form, not what you watch.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377440"/>
            <a:ext cx="2103120" cy="2103120"/>
          </a:xfrm>
          <a:prstGeom prst="ellipse">
            <a:avLst/>
          </a:prstGeom>
          <a:solidFill>
            <a:srgbClr val="151D27"/>
          </a:solidFill>
          <a:ln w="25400">
            <a:solidFill>
              <a:srgbClr val="2A354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9AA7B4"/>
                </a:solidFill>
              </a:rPr>
              <a:t>original clip
not published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9AA7B4"/>
                </a:solidFill>
                <a:latin typeface="Helvetica"/>
              </a:rPr>
              <a:t>original (5 s)</a:t>
            </a:r>
          </a:p>
        </p:txBody>
      </p:sp>
      <p:pic>
        <p:nvPicPr>
          <p:cNvPr id="6" name="Picture 5" descr="still_square_round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37744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45262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9AA7B4"/>
                </a:solidFill>
                <a:latin typeface="Helvetica"/>
              </a:rPr>
              <a:t>square re-encode</a:t>
            </a:r>
          </a:p>
        </p:txBody>
      </p:sp>
      <p:pic>
        <p:nvPicPr>
          <p:cNvPr id="8" name="Picture 7" descr="still_polar_decoded_round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377440"/>
            <a:ext cx="210312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0" y="452628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9AA7B4"/>
                </a:solidFill>
                <a:latin typeface="Helvetica"/>
              </a:rPr>
              <a:t>polar round trip</a:t>
            </a:r>
          </a:p>
        </p:txBody>
      </p:sp>
      <p:pic>
        <p:nvPicPr>
          <p:cNvPr id="10" name="Picture 9" descr="still_polar_canvas_round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10" y="2377440"/>
            <a:ext cx="525780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4526280"/>
            <a:ext cx="1463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9AA7B4"/>
                </a:solidFill>
                <a:latin typeface="Helvetica"/>
              </a:rPr>
              <a:t>the strip: internal form, not what you watch</a:t>
            </a:r>
          </a:p>
        </p:txBody>
      </p:sp>
      <p:pic>
        <p:nvPicPr>
          <p:cNvPr id="12" name="Picture 11" descr="still_square_5358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377440"/>
            <a:ext cx="1645920" cy="1645920"/>
          </a:xfrm>
          <a:prstGeom prst="rect">
            <a:avLst/>
          </a:prstGeom>
        </p:spPr>
      </p:pic>
      <p:pic>
        <p:nvPicPr>
          <p:cNvPr id="13" name="Picture 12" descr="still_polar_5358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2377440"/>
            <a:ext cx="164592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0" y="4069080"/>
            <a:ext cx="3429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9AA7B4"/>
                </a:solidFill>
                <a:latin typeface="Helvetica"/>
              </a:rPr>
              <a:t>gallery clip: square (left) vs polar (right)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CC2FF"/>
                </a:solidFill>
                <a:latin typeface="Helvetica"/>
              </a:rPr>
              <a:t>Stills only. The moving versions play in the HTML deck: docs/slides/index.html,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Why it loses #1: the rim is starved, the centre is flooded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023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A polar strip has one column per radius, so the outer ring gets far fewer pixels than in the square and the centre gets too many.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Measured: rim -3.0 dB, centre only -0.6 dB.</a:t>
            </a:r>
          </a:p>
        </p:txBody>
      </p:sp>
      <p:pic>
        <p:nvPicPr>
          <p:cNvPr id="4" name="Picture 3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60804"/>
            <a:ext cx="5394960" cy="3776472"/>
          </a:xfrm>
          <a:prstGeom prst="rect">
            <a:avLst/>
          </a:prstGeom>
        </p:spPr>
      </p:pic>
      <p:pic>
        <p:nvPicPr>
          <p:cNvPr id="5" name="Picture 4" descr="rim_diff_5358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11680"/>
            <a:ext cx="1737359" cy="17373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0" y="384048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9AA7B4"/>
                </a:solidFill>
                <a:latin typeface="Helvetica"/>
              </a:rPr>
              <a:t>error map of one clip (brighter = bigger error): a ring at the rim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Why it loses #2: motion becomes a warp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023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Codecs predict each block as a shift of the last frame. On the strip an ordinary sideways move is a bend, so prediction fails.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Also: the white corners are already almost free (flat blocks cost nearly nothing).</a:t>
            </a:r>
          </a:p>
        </p:txBody>
      </p:sp>
      <p:pic>
        <p:nvPicPr>
          <p:cNvPr id="4" name="Picture 3" descr="fig_motion_wa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697" y="1371600"/>
            <a:ext cx="679268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What we tried to rescue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Repeating a few rows across the cut (guard rows): worse, 1.92x. Cutting at the chin hides the visible seam, saves no bytes. Rings of equal area: best polar, still 1.76x. Gentler disc-to-square maps: 1.62x and 1.37x.</a:t>
            </a:r>
          </a:p>
        </p:txBody>
      </p:sp>
      <p:pic>
        <p:nvPicPr>
          <p:cNvPr id="4" name="Picture 3" descr="fig_resc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01" y="2468880"/>
            <a:ext cx="9865892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Synthetic motion: polar wins only on a fast spin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Spinning 3 degrees per frame: -14 %. Everything people actually do (hold still, sway, lean in) costs more. Real circles are shaky and sideways, not spinning.</a:t>
            </a:r>
          </a:p>
        </p:txBody>
      </p:sp>
      <p:pic>
        <p:nvPicPr>
          <p:cNvPr id="4" name="Picture 3" descr="fig_sy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249" y="2468880"/>
            <a:ext cx="8331197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Where rotation and zoom already pay: inside the codec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Visionular libaom study; Parker et al. 2017; Li et al. 2018; Zhang et al. 2019; Yang et al. 2021.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023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Newer codecs (AV1, VVC) already describe turn, zoom and shift with 4 to 6 numbers per block, on the square grid.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Helvetica"/>
              </a:rPr>
              <a:t>Literature: about 1 % saved on average, 10 to 20 % only on rotation-heavy footage.</a:t>
            </a:r>
          </a:p>
        </p:txBody>
      </p:sp>
      <p:pic>
        <p:nvPicPr>
          <p:cNvPr id="5" name="Picture 4" descr="fig_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08176"/>
            <a:ext cx="7315200" cy="46817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AV1 result: the gap narrows, the verdict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Negative = polar needs fewer bytes than the square at the same quality. results/batch2_svtav1 (SVT-AV1 preset 6, PSNR tuning, 30 clips x 3 variants x 6 settings) and results/aom_ablation (libaom on the synthetic clips, global + warped motion on vs off).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Helvetica"/>
              </a:rPr>
              <a:t>Same 30 circles under AV1 (SVT-AV1, and libaom with its rotation and zoom tools switched on and off). The square still wins on every real clip; polar keeps an edge only on a fast spin.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1460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219456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9AA7B4"/>
                          </a:solidFill>
                        </a:rPr>
                        <a:t>H.264 (x264)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9AA7B4"/>
                          </a:solidFill>
                        </a:rPr>
                        <a:t>AV1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E6EDF3"/>
                          </a:solidFill>
                        </a:rPr>
                        <a:t>polar strip, real clips: bytes vs square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E6EDF3"/>
                          </a:solidFill>
                        </a:rPr>
                        <a:t>1.82x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F5A623"/>
                          </a:solidFill>
                        </a:rPr>
                        <a:t>1.76x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E6EDF3"/>
                          </a:solidFill>
                        </a:rPr>
                        <a:t>gentlest disc-to-square map, real clips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E6EDF3"/>
                          </a:solidFill>
                        </a:rPr>
                        <a:t>1.37x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F5A623"/>
                          </a:solidFill>
                        </a:rPr>
                        <a:t>1.19x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E6EDF3"/>
                          </a:solidFill>
                        </a:rPr>
                        <a:t>polar strip, fast spin (3 degrees per frame)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E6EDF3"/>
                          </a:solidFill>
                        </a:rPr>
                        <a:t>-14 %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F5A623"/>
                          </a:solidFill>
                        </a:rPr>
                        <a:t>-34 % (SVT-AV1)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E6EDF3"/>
                          </a:solidFill>
                        </a:rPr>
                        <a:t>polar on fast spin with AV1's turn-and-zoom tools off / on (libaom)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F5A623"/>
                          </a:solidFill>
                        </a:rPr>
                        <a:t>-32 % / -21 %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E6EDF3"/>
                          </a:solidFill>
                        </a:rPr>
                        <a:t>plain square on fast spin with those tools off (libaom)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>
                          <a:solidFill>
                            <a:srgbClr val="F5A623"/>
                          </a:solidFill>
                        </a:rPr>
                        <a:t>+20 % more bytes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5A623"/>
                </a:solidFill>
                <a:latin typeface="Helvetica"/>
              </a:rPr>
              <a:t>AV1 closes part of the gap on the square, but at fast spin polar still wins; at realistic motion it still loses.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What others tried: polar in video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Numbers and links: docs/research/polar-coding-literature.md, lens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7B4"/>
                </a:solidFill>
                <a:latin typeface="Helvetica"/>
              </a:rPr>
              <a:t>Log-polar = polar with rings that widen toward the rim, like the eye's retina.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Weiman 1990, log-polar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0312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the saving came from dropping rim detail, not from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Li et al. 2021, log-polar strip into a standard codec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15468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it flickers; a straighter warp was cheaper.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Eichenseer &amp; Kaup 2014-2019, fisheye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20624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straightening curved lines helped, about 1 dB.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What others tried: polar in video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Numbers and links: docs/research/polar-coding-literature.md, lens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Vishwanath et al. 2018, 360-degree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a rotation model helps only on far more warped pictures.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Ahmmed et al. 2016, fully bendable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42316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small gain, and only on round wide-angle footage.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Schwarz &amp; Behnke 2025, telepresence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47472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a quality map in a stock codec beat warping the pixels.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A623"/>
                </a:solidFill>
                <a:latin typeface="Helvetica"/>
              </a:rPr>
              <a:t>Six sources, none beat the square grid.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What others tried: polar for still images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Numbers and links: docs/research/polar-coding-literature.md, lens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Log-polar retina sensors (Sandini, Berton 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fewer pixels toward the rim; never became a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Iris rubber-sheet format, ISO 19794-6 (2005)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42316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the saving came from cropping; dropped in 2011.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Solar Orbiter Metis camera (2020)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47472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works because the Sun's corona is ring-shaped; a face is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What others tried: polar for still images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Numbers and links: docs/research/polar-coding-literature.md, lens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JPEG 2000 region of interest (Christopoulos 2000)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mark the disc as important on the square: nearly 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Foveated wavelet coding (Wang &amp; Bovik 2001)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42316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centre weighting pays only at extreme compression.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42062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CC2FF"/>
                </a:solidFill>
                <a:latin typeface="Helvetica"/>
              </a:rPr>
              <a:t>Polar iris statistics (Uhl group 2009)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474720"/>
            <a:ext cx="67967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E6EDF3"/>
                </a:solidFill>
                <a:latin typeface="Helvetica"/>
              </a:rPr>
              <a:t>polar pictures stretch differently along and across rings; stock codec tables fit badly.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5A623"/>
                </a:solidFill>
                <a:latin typeface="Helvetica"/>
              </a:rPr>
              <a:t>Six sources, none beat the square grid.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Should we build a polar still-image coder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7B4"/>
                </a:solidFill>
                <a:latin typeface="Helvetica"/>
              </a:rPr>
              <a:t>Still-only test = the same pipeline with motion prediction switched 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394960" cy="2377440"/>
          </a:xfrm>
          <a:prstGeom prst="roundRect">
            <a:avLst/>
          </a:prstGeom>
          <a:solidFill>
            <a:srgbClr val="15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4CC2FF"/>
                </a:solidFill>
                <a:latin typeface="Helvetica"/>
              </a:rPr>
              <a:t>it would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• the share of the +82 % that is pure resampling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• how much depends on where the centre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94960" cy="2377440"/>
          </a:xfrm>
          <a:prstGeom prst="roundRect">
            <a:avLst/>
          </a:prstGeom>
          <a:solidFill>
            <a:srgbClr val="15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5029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4CC2FF"/>
                </a:solidFill>
                <a:latin typeface="Helvetica"/>
              </a:rPr>
              <a:t>it cannot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50292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• motion, where most of the bytes go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• still tests exaggerate geometry effects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094415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5A623"/>
                </a:solidFill>
                <a:latin typeface="Helvetica"/>
              </a:rPr>
              <a:t>Verdict: no new coder; switch off motion prediction in the existing pipeline instead.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Three ways to use polar maths from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2926080"/>
          </a:xfrm>
          <a:prstGeom prst="roundRect">
            <a:avLst/>
          </a:prstGeom>
          <a:solidFill>
            <a:srgbClr val="151D27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6B6B"/>
                </a:solidFill>
                <a:latin typeface="Helvetica"/>
              </a:rPr>
              <a:t>1. Polar as the stored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Helvetica"/>
              </a:rPr>
              <a:t>1.82x the bytes. Closed.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371600"/>
            <a:ext cx="3566160" cy="2926080"/>
          </a:xfrm>
          <a:prstGeom prst="roundRect">
            <a:avLst/>
          </a:prstGeom>
          <a:solidFill>
            <a:srgbClr val="151D27"/>
          </a:solidFill>
          <a:ln w="38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5087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5A623"/>
                </a:solidFill>
                <a:latin typeface="Helvetica"/>
              </a:rPr>
              <a:t>2. Polar motion inside a codec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37744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Helvetica"/>
              </a:rPr>
              <a:t>Measured: AV1's own turn-and-zoom tools leave polar a 21 % edge on a fast spin only, and real circles do not spin. Not worth building.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8" y="1371600"/>
            <a:ext cx="3566160" cy="2926080"/>
          </a:xfrm>
          <a:prstGeom prst="roundRect">
            <a:avLst/>
          </a:prstGeom>
          <a:solidFill>
            <a:srgbClr val="151D27"/>
          </a:solidFill>
          <a:ln w="38100">
            <a:solidFill>
              <a:srgbClr val="6FD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8" y="15087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6FD36F"/>
                </a:solidFill>
                <a:latin typeface="Helvetica"/>
              </a:rPr>
              <a:t>3. Centre-weighted quality on the square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8" y="237744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Helvetica"/>
              </a:rPr>
              <a:t>More bits on the face, fewer on the rim. Works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1094415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5A623"/>
                </a:solidFill>
                <a:latin typeface="Helvetica"/>
              </a:rPr>
              <a:t>Recommendation: drop the polar file format; test the quality map on the same 30 clips.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Appendix: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A7B4"/>
                </a:solidFill>
                <a:latin typeface="Helvetica"/>
              </a:rPr>
              <a:t>Medians over 30 clips, x264, PSNR inside the disc. Quality at the same bytes = median PSNR gap at each clip's square bitrate at the middle quality setting.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737360"/>
                <a:gridCol w="1737360"/>
                <a:gridCol w="21031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9AA7B4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9AA7B4"/>
                          </a:solidFill>
                        </a:rPr>
                        <a:t>bytes vs square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9AA7B4"/>
                          </a:solidFill>
                        </a:rPr>
                        <a:t>95 % interval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9AA7B4"/>
                          </a:solidFill>
                        </a:rPr>
                        <a:t>quality at the same bytes (dB)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9AA7B4"/>
                          </a:solidFill>
                        </a:rPr>
                        <a:t>canvas pixels vs square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CC2FF"/>
                          </a:solidFill>
                        </a:rPr>
                        <a:t>square (today)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4CC2FF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4CC2FF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4CC2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4CC2FF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gentlest disc-to-square map (elliptical)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1.37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1.31 to 1.45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-1.7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elliptical map, fewer pixels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1.35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1.29 to 1.41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-1.8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0.80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gentle disc-to-square map (Shirley-Chiu)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1.62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1.56 to 1.70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-2.5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polar, rings of equal area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1.76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1.66 to 1.93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-2.8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0.79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polar strip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1.82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1.71 to 1.90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-3.2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polar + repeated rows across the cut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1.92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1.83 to 2.10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-3.4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polar, 1.6x more pixels at the rim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2.03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1.93 to 2.14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-3.5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1.60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6EDF3"/>
                          </a:solidFill>
                        </a:rPr>
                        <a:t>polar, half the pixels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2.09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1.84 to 2.25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-4.8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E6EDF3"/>
                          </a:solidFill>
                        </a:rPr>
                        <a:t>0.51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9AA7B4"/>
                          </a:solidFill>
                        </a:rPr>
                        <a:t>control: resampling only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1.09 to 1.16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-0.8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9AA7B4"/>
                          </a:solidFill>
                        </a:rPr>
                        <a:t>control: inverse warp on the square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1.08 to 1.16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-0.8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0B101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9AA7B4"/>
                          </a:solidFill>
                        </a:rPr>
                        <a:t>control: 1.6x pixels only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1.32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1.28 to 1.35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-1.3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9AA7B4"/>
                          </a:solidFill>
                        </a:rPr>
                        <a:t>1.60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6EDF3"/>
                </a:solidFill>
                <a:latin typeface="Helvetica"/>
              </a:rPr>
              <a:t>Appendix: method and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30 real circles (300, 384, 400 px), first 10 s, x264 tuned for PSNR, six quality settings per variant.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Metric: PSNR and SSIM (a second quality score) inside the disc; bytes at equal quality (BD-rate) per clip, then the median with a 95 % interval (the range the true median is 95 % likely to fall in).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Controls isolate resampling, the inverse warp and the pixel budget from the codec's own loss.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6EDF3"/>
                </a:solidFill>
                <a:latin typeface="Helvetica"/>
              </a:rPr>
              <a:t>AV1 pass: the same clips and synthetic motions under SVT-AV1 (PSNR tuning, same masks and settings per variant); libaom with its global and warped motion switched on and 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3716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9AA7B4"/>
                </a:solidFill>
                <a:latin typeface="Helvetica"/>
              </a:rPr>
              <a:t>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9202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CC2FF"/>
                </a:solidFill>
                <a:hlinkClick r:id="rId2"/>
              </a:rPr>
              <a:t>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3774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CC2FF"/>
                </a:solidFill>
                <a:hlinkClick r:id="rId3"/>
              </a:rPr>
              <a:t>Benchmark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8346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CC2FF"/>
                </a:solidFill>
                <a:hlinkClick r:id="rId4"/>
              </a:rPr>
              <a:t>AV1 comparison (gap tables)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291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CC2FF"/>
                </a:solidFill>
                <a:hlinkClick r:id="rId5"/>
              </a:rPr>
              <a:t>Galleries (best / worst clips)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749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CC2FF"/>
                </a:solidFill>
                <a:hlinkClick r:id="rId6"/>
              </a:rPr>
              <a:t>Synthetic motion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2062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CC2FF"/>
                </a:solidFill>
                <a:hlinkClick r:id="rId7"/>
              </a:rPr>
              <a:t>Bibliography (checked 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6634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CC2FF"/>
                </a:solidFill>
                <a:hlinkClick r:id="rId8"/>
              </a:rPr>
              <a:t>Plain-words explainer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